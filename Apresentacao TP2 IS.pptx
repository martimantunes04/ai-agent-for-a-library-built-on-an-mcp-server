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A50D06-7EB4-4C10-B792-78441F892DAD}">
  <a:tblStyle styleId="{0BA50D06-7EB4-4C10-B792-78441F892D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323810"/>
            <a:ext cx="1744652" cy="77858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0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Legenda">
  <p:cSld name="Título e Legenda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1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ção com Legenda">
  <p:cSld name="Citação com Legenda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2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ão de Nome">
  <p:cSld name="Cartão de Nom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ão de Nome com Citação">
  <p:cSld name="Cartão de Nome com Citação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4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iro ou Falso">
  <p:cSld name="Verdadeiro ou Falso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0" name="Google Shape;40;p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1" name="Google Shape;41;p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ctrTitle"/>
          </p:nvPr>
        </p:nvSpPr>
        <p:spPr>
          <a:xfrm>
            <a:off x="1386348" y="2133339"/>
            <a:ext cx="100887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The Model Context Protocol (MCP)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169" name="Google Shape;169;p18" descr="Universidade de Coimbra | Coimbr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697" y="375739"/>
            <a:ext cx="1017683" cy="103103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4202676" y="5002584"/>
            <a:ext cx="3716593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</a:pPr>
            <a:r>
              <a:rPr lang="pt-PT" sz="2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Autores: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pt-PT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Martim Antunes </a:t>
            </a:r>
            <a:r>
              <a:rPr lang="pt-PT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nº: </a:t>
            </a:r>
            <a:r>
              <a:rPr lang="pt-PT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2025191528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pt-PT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Bernardo Pedro </a:t>
            </a:r>
            <a:r>
              <a:rPr lang="pt-PT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nº:</a:t>
            </a:r>
            <a:r>
              <a:rPr lang="pt-PT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2021231014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3263472" y="891254"/>
            <a:ext cx="6094324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pt-PT" sz="2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Trabalho 2 – Integração Sistemas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pt-PT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Ano Letivo: 2025/2026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0" y="-786"/>
            <a:ext cx="12192000" cy="685403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DE6C3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19"/>
          <p:cNvSpPr txBox="1">
            <a:spLocks noGrp="1"/>
          </p:cNvSpPr>
          <p:nvPr>
            <p:ph type="title"/>
          </p:nvPr>
        </p:nvSpPr>
        <p:spPr>
          <a:xfrm>
            <a:off x="1239160" y="728838"/>
            <a:ext cx="2978879" cy="888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Arquitetura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19"/>
          <p:cNvSpPr txBox="1">
            <a:spLocks noGrp="1"/>
          </p:cNvSpPr>
          <p:nvPr>
            <p:ph type="body" idx="1"/>
          </p:nvPr>
        </p:nvSpPr>
        <p:spPr>
          <a:xfrm>
            <a:off x="394421" y="1887794"/>
            <a:ext cx="5003489" cy="375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Componentes principais: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Interface do utilizador (Browser Testbox)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Agente com LangChain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Modelo de linguagem (Gemini 3.1 Flash Lite Preview)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Servidor MCP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API REST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Base de dados (SQLite) </a:t>
            </a: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7820" y="728838"/>
            <a:ext cx="6209759" cy="57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-1" y="6061223"/>
            <a:ext cx="1038036" cy="506277"/>
          </a:xfrm>
          <a:custGeom>
            <a:avLst/>
            <a:gdLst/>
            <a:ahLst/>
            <a:cxnLst/>
            <a:rect l="l" t="t" r="r" b="b"/>
            <a:pathLst>
              <a:path w="1038036" h="506277" extrusionOk="0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>
            <a:spLocks noGrp="1"/>
          </p:cNvSpPr>
          <p:nvPr>
            <p:ph type="title"/>
          </p:nvPr>
        </p:nvSpPr>
        <p:spPr>
          <a:xfrm>
            <a:off x="3270018" y="374475"/>
            <a:ext cx="66057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Modelos Dados - Biblioteca </a:t>
            </a:r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body" idx="1"/>
          </p:nvPr>
        </p:nvSpPr>
        <p:spPr>
          <a:xfrm>
            <a:off x="1897626" y="1509251"/>
            <a:ext cx="4567085" cy="3443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Livro (Book)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id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title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author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year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owner_id (referência ao membro)</a:t>
            </a:r>
            <a:endParaRPr b="1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929716" y="1509251"/>
            <a:ext cx="2669457" cy="288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lang="pt-PT" sz="1800" b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Membro (Member)</a:t>
            </a: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 </a:t>
            </a:r>
            <a:endParaRPr/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name </a:t>
            </a:r>
            <a:endParaRPr/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email 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897626" y="4594834"/>
            <a:ext cx="9350477" cy="186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lang="pt-PT" sz="1800" b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Relação entre entidades</a:t>
            </a:r>
            <a:endParaRPr/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pt-PT" sz="1600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Membro</a:t>
            </a: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pode ter vários </a:t>
            </a:r>
            <a:r>
              <a:rPr lang="pt-PT" sz="1600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Livros emprestados</a:t>
            </a: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</a:t>
            </a:r>
            <a:r>
              <a:rPr lang="pt-PT" sz="1600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Livro</a:t>
            </a: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pode estar associado a um único </a:t>
            </a:r>
            <a:r>
              <a:rPr lang="pt-PT" sz="1600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Membro</a:t>
            </a: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(quando emprestado) </a:t>
            </a:r>
            <a:endParaRPr/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lang="pt-PT"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Relação </a:t>
            </a:r>
            <a:r>
              <a:rPr lang="pt-PT" sz="1600" b="1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1:N (um para muitos)</a:t>
            </a:r>
            <a:endParaRPr sz="1600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4727920" y="375159"/>
            <a:ext cx="2736159" cy="93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REST API</a:t>
            </a:r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"/>
          </p:nvPr>
        </p:nvSpPr>
        <p:spPr>
          <a:xfrm>
            <a:off x="1101213" y="1186543"/>
            <a:ext cx="10403399" cy="545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b="1" dirty="0"/>
              <a:t>Tecnologias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Desenvolvida com </a:t>
            </a:r>
            <a:r>
              <a:rPr lang="pt-PT" b="1" dirty="0" err="1"/>
              <a:t>FastAPI</a:t>
            </a:r>
            <a:r>
              <a:rPr lang="pt-PT" dirty="0"/>
              <a:t> (</a:t>
            </a:r>
            <a:r>
              <a:rPr lang="pt-PT" dirty="0" err="1"/>
              <a:t>Python</a:t>
            </a:r>
            <a:r>
              <a:rPr lang="pt-PT" dirty="0"/>
              <a:t> web </a:t>
            </a:r>
            <a:r>
              <a:rPr lang="pt-PT" dirty="0" err="1"/>
              <a:t>framework</a:t>
            </a:r>
            <a:r>
              <a:rPr lang="pt-PT" dirty="0"/>
              <a:t>) 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Base de dados: </a:t>
            </a:r>
            <a:r>
              <a:rPr lang="pt-PT" b="1" dirty="0" err="1"/>
              <a:t>SQLite</a:t>
            </a:r>
            <a:r>
              <a:rPr lang="pt-PT" dirty="0"/>
              <a:t> 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Permite operações CRUD para livros e membros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 dirty="0"/>
              <a:t>Funcionalidades Principais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b="1" dirty="0"/>
              <a:t>Livros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POST /</a:t>
            </a:r>
            <a:r>
              <a:rPr lang="pt-PT" dirty="0" err="1"/>
              <a:t>books</a:t>
            </a:r>
            <a:r>
              <a:rPr lang="pt-PT" dirty="0"/>
              <a:t> 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adicionar livro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GET /</a:t>
            </a:r>
            <a:r>
              <a:rPr lang="pt-PT" dirty="0" err="1"/>
              <a:t>books</a:t>
            </a:r>
            <a:r>
              <a:rPr lang="pt-PT" dirty="0"/>
              <a:t>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listar livros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PUT /</a:t>
            </a:r>
            <a:r>
              <a:rPr lang="pt-PT" dirty="0" err="1"/>
              <a:t>books</a:t>
            </a:r>
            <a:r>
              <a:rPr lang="pt-PT" dirty="0"/>
              <a:t>/{</a:t>
            </a:r>
            <a:r>
              <a:rPr lang="pt-PT" dirty="0" err="1"/>
              <a:t>book_id</a:t>
            </a:r>
            <a:r>
              <a:rPr lang="pt-PT" dirty="0"/>
              <a:t>} </a:t>
            </a:r>
            <a:r>
              <a:rPr lang="pt-PT" dirty="0">
                <a:sym typeface="Wingdings" panose="05000000000000000000" pitchFamily="2" charset="2"/>
              </a:rPr>
              <a:t> </a:t>
            </a:r>
            <a:r>
              <a:rPr lang="pt-PT" dirty="0"/>
              <a:t>atualizar livro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DELETE /</a:t>
            </a:r>
            <a:r>
              <a:rPr lang="pt-PT" dirty="0" err="1"/>
              <a:t>books</a:t>
            </a:r>
            <a:r>
              <a:rPr lang="pt-PT" dirty="0"/>
              <a:t>/{</a:t>
            </a:r>
            <a:r>
              <a:rPr lang="pt-PT" dirty="0" err="1"/>
              <a:t>book_id</a:t>
            </a:r>
            <a:r>
              <a:rPr lang="pt-PT" dirty="0"/>
              <a:t>}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remover livro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b="1" dirty="0"/>
              <a:t>Membros (</a:t>
            </a:r>
            <a:r>
              <a:rPr lang="pt-PT" b="1" dirty="0" err="1"/>
              <a:t>Member</a:t>
            </a:r>
            <a:r>
              <a:rPr lang="pt-PT" b="1" dirty="0"/>
              <a:t>)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POST /</a:t>
            </a:r>
            <a:r>
              <a:rPr lang="pt-PT" dirty="0" err="1"/>
              <a:t>members</a:t>
            </a:r>
            <a:r>
              <a:rPr lang="pt-PT" dirty="0"/>
              <a:t>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adicionar membro 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GET /</a:t>
            </a:r>
            <a:r>
              <a:rPr lang="pt-PT" dirty="0" err="1"/>
              <a:t>members</a:t>
            </a:r>
            <a:r>
              <a:rPr lang="pt-PT" dirty="0"/>
              <a:t>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listar membros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b="1" dirty="0"/>
              <a:t>Empréstimos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POST/</a:t>
            </a:r>
            <a:r>
              <a:rPr lang="pt-PT" dirty="0" err="1"/>
              <a:t>members</a:t>
            </a:r>
            <a:r>
              <a:rPr lang="pt-PT" dirty="0"/>
              <a:t>/{</a:t>
            </a:r>
            <a:r>
              <a:rPr lang="pt-PT" dirty="0" err="1"/>
              <a:t>member_id</a:t>
            </a:r>
            <a:r>
              <a:rPr lang="pt-PT" dirty="0"/>
              <a:t>/</a:t>
            </a:r>
            <a:r>
              <a:rPr lang="pt-PT" dirty="0" err="1"/>
              <a:t>borrow</a:t>
            </a:r>
            <a:r>
              <a:rPr lang="pt-PT" dirty="0"/>
              <a:t>/{</a:t>
            </a:r>
            <a:r>
              <a:rPr lang="pt-PT" dirty="0" err="1"/>
              <a:t>book_id</a:t>
            </a:r>
            <a:r>
              <a:rPr lang="pt-PT" dirty="0"/>
              <a:t>}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Registar empréstimos de livros 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POST/</a:t>
            </a:r>
            <a:r>
              <a:rPr lang="pt-PT" dirty="0" err="1"/>
              <a:t>members</a:t>
            </a:r>
            <a:r>
              <a:rPr lang="pt-PT" dirty="0"/>
              <a:t>/{</a:t>
            </a:r>
            <a:r>
              <a:rPr lang="pt-PT" dirty="0" err="1"/>
              <a:t>member_id</a:t>
            </a:r>
            <a:r>
              <a:rPr lang="pt-PT" dirty="0"/>
              <a:t>/</a:t>
            </a:r>
            <a:r>
              <a:rPr lang="pt-PT" dirty="0" err="1"/>
              <a:t>return</a:t>
            </a:r>
            <a:r>
              <a:rPr lang="pt-PT" dirty="0"/>
              <a:t>/{</a:t>
            </a:r>
            <a:r>
              <a:rPr lang="pt-PT" dirty="0" err="1"/>
              <a:t>book_id</a:t>
            </a:r>
            <a:r>
              <a:rPr lang="pt-PT" dirty="0"/>
              <a:t>}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Devolver empréstimo de livro</a:t>
            </a:r>
            <a:endParaRPr dirty="0"/>
          </a:p>
          <a:p>
            <a:pPr marL="1143000" lvl="2" indent="-13970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1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457200" lvl="1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7073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4566493" y="308424"/>
            <a:ext cx="3059013" cy="73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MCP Server</a:t>
            </a:r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1034143" y="1360714"/>
            <a:ext cx="10503920" cy="560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O que é MCP?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Exposição de </a:t>
            </a:r>
            <a:r>
              <a:rPr lang="pt-PT" b="1"/>
              <a:t>tools</a:t>
            </a:r>
            <a:r>
              <a:rPr lang="pt-PT"/>
              <a:t>, </a:t>
            </a:r>
            <a:r>
              <a:rPr lang="pt-PT" b="1"/>
              <a:t>resources</a:t>
            </a:r>
            <a:r>
              <a:rPr lang="pt-PT"/>
              <a:t> e </a:t>
            </a:r>
            <a:r>
              <a:rPr lang="pt-PT" b="1"/>
              <a:t>prompts</a:t>
            </a:r>
            <a:r>
              <a:rPr lang="pt-PT"/>
              <a:t>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Reutiliza a </a:t>
            </a:r>
            <a:r>
              <a:rPr lang="pt-PT" b="1"/>
              <a:t>mesma lógica central</a:t>
            </a:r>
            <a:r>
              <a:rPr lang="pt-PT"/>
              <a:t> que a REST API</a:t>
            </a: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Principais Tools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Gestão de livros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get_all_books(), add_book(), borrow_book()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Gestão de membros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get_all_members(), add_member()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/>
              <a:t>Gestão Empréstimos</a:t>
            </a:r>
            <a:endParaRPr b="1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/>
              <a:t>borrow_book(), return book()</a:t>
            </a: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4703" y="3140497"/>
            <a:ext cx="5222783" cy="2258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>
            <a:spLocks noGrp="1"/>
          </p:cNvSpPr>
          <p:nvPr>
            <p:ph type="body" idx="1"/>
          </p:nvPr>
        </p:nvSpPr>
        <p:spPr>
          <a:xfrm>
            <a:off x="794657" y="1534886"/>
            <a:ext cx="10709955" cy="501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b="1" dirty="0" err="1"/>
              <a:t>Resources</a:t>
            </a:r>
            <a:r>
              <a:rPr lang="pt-PT" b="1" dirty="0"/>
              <a:t> (contexto)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library://schema </a:t>
            </a:r>
            <a:r>
              <a:rPr lang="pt-PT" dirty="0">
                <a:sym typeface="Wingdings" panose="05000000000000000000" pitchFamily="2" charset="2"/>
              </a:rPr>
              <a:t> </a:t>
            </a:r>
            <a:r>
              <a:rPr lang="pt-PT" dirty="0"/>
              <a:t>regras da base de dados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info://app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</a:t>
            </a:r>
            <a:r>
              <a:rPr lang="pt-PT" dirty="0" err="1"/>
              <a:t>metadados</a:t>
            </a:r>
            <a:r>
              <a:rPr lang="pt-PT" dirty="0"/>
              <a:t> e estado da biblioteca</a:t>
            </a:r>
            <a:endParaRPr dirty="0"/>
          </a:p>
          <a:p>
            <a:pPr marL="457200" lvl="1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 dirty="0" err="1"/>
              <a:t>Prompt</a:t>
            </a:r>
            <a:r>
              <a:rPr lang="pt-PT" b="1" dirty="0"/>
              <a:t> Principal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 err="1"/>
              <a:t>inventory_analysis_prompt</a:t>
            </a:r>
            <a:r>
              <a:rPr lang="pt-PT" dirty="0"/>
              <a:t>() 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Instruções para: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Inicializar LLM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Garantir integridade da coleção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Verificar membros com limite de livros</a:t>
            </a:r>
            <a:endParaRPr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pt-PT" dirty="0"/>
              <a:t>Gerar relatórios de empréstimos e inconsistências</a:t>
            </a: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/>
          </p:nvPr>
        </p:nvSpPr>
        <p:spPr>
          <a:xfrm>
            <a:off x="4566493" y="308424"/>
            <a:ext cx="3059013" cy="73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MCP Server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>
            <a:spLocks noGrp="1"/>
          </p:cNvSpPr>
          <p:nvPr>
            <p:ph type="title"/>
          </p:nvPr>
        </p:nvSpPr>
        <p:spPr>
          <a:xfrm>
            <a:off x="2560268" y="413658"/>
            <a:ext cx="7922675" cy="86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Agente Langchain + Gemini</a:t>
            </a:r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body" idx="1"/>
          </p:nvPr>
        </p:nvSpPr>
        <p:spPr>
          <a:xfrm>
            <a:off x="1132115" y="1393371"/>
            <a:ext cx="10350726" cy="505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b="1" dirty="0"/>
              <a:t>Objetivo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Executar </a:t>
            </a:r>
            <a:r>
              <a:rPr lang="pt-PT" b="1" dirty="0" err="1"/>
              <a:t>tools</a:t>
            </a:r>
            <a:r>
              <a:rPr lang="pt-PT" dirty="0"/>
              <a:t>, ler </a:t>
            </a:r>
            <a:r>
              <a:rPr lang="pt-PT" b="1" dirty="0" err="1"/>
              <a:t>resources</a:t>
            </a:r>
            <a:r>
              <a:rPr lang="pt-PT" dirty="0"/>
              <a:t>, seguir </a:t>
            </a:r>
            <a:r>
              <a:rPr lang="pt-PT" b="1" dirty="0" err="1"/>
              <a:t>prompts</a:t>
            </a:r>
            <a:r>
              <a:rPr lang="pt-PT" dirty="0"/>
              <a:t> 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Manter histórico de conversas em memória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pt-PT" b="1" dirty="0"/>
              <a:t>Agente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b="1" dirty="0"/>
              <a:t>Modelo: </a:t>
            </a:r>
            <a:r>
              <a:rPr lang="pt-PT" dirty="0"/>
              <a:t>Gemini 3.1 Flash Lite </a:t>
            </a:r>
            <a:r>
              <a:rPr lang="pt-PT" dirty="0" err="1"/>
              <a:t>Preview</a:t>
            </a:r>
            <a:r>
              <a:rPr lang="pt-PT" dirty="0"/>
              <a:t> (Google)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b="1" dirty="0"/>
              <a:t>Framework: </a:t>
            </a:r>
            <a:r>
              <a:rPr lang="pt-PT" dirty="0" err="1"/>
              <a:t>LangChain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Ferramentas carregadas automaticamente do </a:t>
            </a:r>
            <a:r>
              <a:rPr lang="pt-PT" b="1" dirty="0"/>
              <a:t>MCP Server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dirty="0"/>
              <a:t>Histórico em memória por </a:t>
            </a:r>
            <a:r>
              <a:rPr lang="pt-PT" b="1" dirty="0" err="1"/>
              <a:t>thread_id</a:t>
            </a:r>
            <a:r>
              <a:rPr lang="pt-PT" b="1" dirty="0"/>
              <a:t> </a:t>
            </a:r>
            <a:r>
              <a:rPr lang="pt-PT" dirty="0"/>
              <a:t>(</a:t>
            </a:r>
            <a:r>
              <a:rPr lang="pt-PT" dirty="0" err="1"/>
              <a:t>InMemorySaver</a:t>
            </a:r>
            <a:r>
              <a:rPr lang="pt-PT" dirty="0"/>
              <a:t>)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pt-PT" b="1" dirty="0" err="1"/>
              <a:t>Prompt</a:t>
            </a:r>
            <a:r>
              <a:rPr lang="pt-PT" b="1" dirty="0"/>
              <a:t> principal: </a:t>
            </a:r>
            <a:r>
              <a:rPr lang="pt-PT" dirty="0" err="1"/>
              <a:t>inventory_analysis_prompt</a:t>
            </a:r>
            <a:r>
              <a:rPr lang="pt-PT" dirty="0"/>
              <a:t>()</a:t>
            </a: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>
            <a:spLocks noGrp="1"/>
          </p:cNvSpPr>
          <p:nvPr>
            <p:ph type="title"/>
          </p:nvPr>
        </p:nvSpPr>
        <p:spPr>
          <a:xfrm>
            <a:off x="4364782" y="319310"/>
            <a:ext cx="3685955" cy="9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Demonstração</a:t>
            </a:r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589275" y="1765750"/>
            <a:ext cx="55998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dirty="0"/>
              <a:t>Operação que retorna exceção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Adicionar um livro com ano superior a 2026</a:t>
            </a:r>
            <a:endParaRPr dirty="0"/>
          </a:p>
        </p:txBody>
      </p:sp>
      <p:pic>
        <p:nvPicPr>
          <p:cNvPr id="226" name="Google Shape;2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775" y="3326225"/>
            <a:ext cx="5693975" cy="21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7051525" y="1658800"/>
            <a:ext cx="4696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lang="pt-PT" sz="1800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Operação que retorna exceção </a:t>
            </a:r>
            <a:r>
              <a:rPr lang="pt-PT" sz="1800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Wingdings" panose="05000000000000000000" pitchFamily="2" charset="2"/>
              </a:rPr>
              <a:t></a:t>
            </a:r>
            <a:r>
              <a:rPr lang="pt-PT" sz="1800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Adicionar um livro com ano </a:t>
            </a:r>
            <a:r>
              <a:rPr lang="pt-PT" sz="1800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float</a:t>
            </a:r>
            <a:r>
              <a:rPr lang="pt-PT" sz="1800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em vez de </a:t>
            </a:r>
            <a:r>
              <a:rPr lang="pt-PT" sz="1800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</a:t>
            </a:r>
            <a:endParaRPr dirty="0"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00" y="3439350"/>
            <a:ext cx="5693976" cy="17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364782" y="319310"/>
            <a:ext cx="3685955" cy="9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Demonstração</a:t>
            </a:r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body" idx="1"/>
          </p:nvPr>
        </p:nvSpPr>
        <p:spPr>
          <a:xfrm>
            <a:off x="1154775" y="1843200"/>
            <a:ext cx="4458300" cy="1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dirty="0"/>
              <a:t>Operação que retorna erro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Membro requisitar um livro tendo já 3 em sua posse</a:t>
            </a:r>
            <a:endParaRPr dirty="0"/>
          </a:p>
        </p:txBody>
      </p:sp>
      <p:pic>
        <p:nvPicPr>
          <p:cNvPr id="235" name="Google Shape;23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325" y="3123575"/>
            <a:ext cx="5692250" cy="286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4875" y="3123575"/>
            <a:ext cx="5692249" cy="24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 txBox="1">
            <a:spLocks noGrp="1"/>
          </p:cNvSpPr>
          <p:nvPr>
            <p:ph type="body" idx="1"/>
          </p:nvPr>
        </p:nvSpPr>
        <p:spPr>
          <a:xfrm>
            <a:off x="7021850" y="1843200"/>
            <a:ext cx="4458300" cy="1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 dirty="0"/>
              <a:t>Operação que retorna erro </a:t>
            </a:r>
            <a:r>
              <a:rPr lang="pt-PT" dirty="0">
                <a:sym typeface="Wingdings" panose="05000000000000000000" pitchFamily="2" charset="2"/>
              </a:rPr>
              <a:t></a:t>
            </a:r>
            <a:r>
              <a:rPr lang="pt-PT" dirty="0"/>
              <a:t> Eliminar um membro com livros em sua posse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>
            <a:spLocks noGrp="1"/>
          </p:cNvSpPr>
          <p:nvPr>
            <p:ph type="title"/>
          </p:nvPr>
        </p:nvSpPr>
        <p:spPr>
          <a:xfrm>
            <a:off x="4364782" y="319310"/>
            <a:ext cx="3685955" cy="9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Demonstração</a:t>
            </a:r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1"/>
          </p:nvPr>
        </p:nvSpPr>
        <p:spPr>
          <a:xfrm>
            <a:off x="589280" y="1310640"/>
            <a:ext cx="11409680" cy="460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pt-PT"/>
              <a:t>Operações semelhantes com pequenas variações: </a:t>
            </a:r>
            <a:r>
              <a:rPr lang="pt-PT" b="1"/>
              <a:t>add_book recebe o ano como inteiro </a:t>
            </a:r>
            <a:r>
              <a:rPr lang="pt-PT"/>
              <a:t>e retorna uma mensagem simples de sucesso, enquanto </a:t>
            </a:r>
            <a:r>
              <a:rPr lang="pt-PT" b="1"/>
              <a:t>add_book_string recebe o ano como string</a:t>
            </a:r>
            <a:r>
              <a:rPr lang="pt-PT"/>
              <a:t> e devolve uma resposta em formato JSON.</a:t>
            </a:r>
            <a:endParaRPr/>
          </a:p>
        </p:txBody>
      </p:sp>
      <p:pic>
        <p:nvPicPr>
          <p:cNvPr id="244" name="Google Shape;2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888" y="2886463"/>
            <a:ext cx="4908825" cy="8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0625" y="3983013"/>
            <a:ext cx="5075351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217" y="2917300"/>
            <a:ext cx="5501658" cy="75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500" y="3983025"/>
            <a:ext cx="5473525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113" y="5911235"/>
            <a:ext cx="5252548" cy="64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9825" y="6001325"/>
            <a:ext cx="5399124" cy="4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>
            <a:spLocks noGrp="1"/>
          </p:cNvSpPr>
          <p:nvPr>
            <p:ph type="title"/>
          </p:nvPr>
        </p:nvSpPr>
        <p:spPr>
          <a:xfrm>
            <a:off x="3207445" y="583500"/>
            <a:ext cx="6456900" cy="9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pt-PT" b="1">
                <a:solidFill>
                  <a:schemeClr val="accent1"/>
                </a:solidFill>
              </a:rPr>
              <a:t>Conclusão - REST API VS MCP </a:t>
            </a:r>
            <a:endParaRPr/>
          </a:p>
        </p:txBody>
      </p:sp>
      <p:graphicFrame>
        <p:nvGraphicFramePr>
          <p:cNvPr id="255" name="Google Shape;255;p29"/>
          <p:cNvGraphicFramePr/>
          <p:nvPr>
            <p:extLst>
              <p:ext uri="{D42A27DB-BD31-4B8C-83A1-F6EECF244321}">
                <p14:modId xmlns:p14="http://schemas.microsoft.com/office/powerpoint/2010/main" val="4036393519"/>
              </p:ext>
            </p:extLst>
          </p:nvPr>
        </p:nvGraphicFramePr>
        <p:xfrm>
          <a:off x="952500" y="2094325"/>
          <a:ext cx="10287000" cy="2981747"/>
        </p:xfrm>
        <a:graphic>
          <a:graphicData uri="http://schemas.openxmlformats.org/drawingml/2006/table">
            <a:tbl>
              <a:tblPr>
                <a:noFill/>
                <a:tableStyleId>{0BA50D06-7EB4-4C10-B792-78441F892DAD}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pt-PT" sz="1500" b="1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Característica</a:t>
                      </a:r>
                      <a:endParaRPr sz="1500" b="1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>
                    <a:lnL w="10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 b="1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REST API (Tradicional)</a:t>
                      </a:r>
                      <a:endParaRPr sz="1500" b="1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>
                    <a:lnL w="10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 b="1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MCP (Model Context Protocol)</a:t>
                      </a:r>
                      <a:endParaRPr sz="1500" b="1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Comunicação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>
                    <a:lnT w="10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Estrita (Endpoint A ➔ Função B)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Dinâmica (O Agente decide que ferramenta usar)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Flexibilidade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Baixa: O utilizador tem de saber o ID exato.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Alta: O utilizador pede "em linguagem natural".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Tratamento de Erros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Devolve um código (Ex: 400 Bad Request).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Transforma o erro </a:t>
                      </a:r>
                      <a:r>
                        <a:rPr lang="pt-PT" sz="1500" b="0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numa instrução útil para o utilizador.</a:t>
                      </a:r>
                      <a:endParaRPr sz="1500" b="0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Controlo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Totalmente previsível e rígido</a:t>
                      </a:r>
                      <a:endParaRPr sz="15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500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Requer supervisão (o Agente pode "alucinar").</a:t>
                      </a:r>
                      <a:endParaRPr sz="1500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30"/>
          <p:cNvGrpSpPr/>
          <p:nvPr/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61" name="Google Shape;261;p3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73" name="Google Shape;273;p30"/>
          <p:cNvGrpSpPr/>
          <p:nvPr/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74" name="Google Shape;274;p30"/>
            <p:cNvSpPr/>
            <p:nvPr/>
          </p:nvSpPr>
          <p:spPr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86" name="Google Shape;286;p3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0" y="4323810"/>
            <a:ext cx="1744652" cy="77858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9" name="Google Shape;289;p30"/>
          <p:cNvGrpSpPr/>
          <p:nvPr/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</p:grpSpPr>
        <p:sp>
          <p:nvSpPr>
            <p:cNvPr id="290" name="Google Shape;290;p3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rgbClr val="D1DCB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02" name="Google Shape;302;p30"/>
          <p:cNvSpPr/>
          <p:nvPr/>
        </p:nvSpPr>
        <p:spPr>
          <a:xfrm>
            <a:off x="0" y="1159566"/>
            <a:ext cx="7560245" cy="453886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>
            <a:gsLst>
              <a:gs pos="0">
                <a:srgbClr val="922A0E"/>
              </a:gs>
              <a:gs pos="23000">
                <a:srgbClr val="922A0E"/>
              </a:gs>
              <a:gs pos="69000">
                <a:srgbClr val="7B230B"/>
              </a:gs>
              <a:gs pos="97000">
                <a:srgbClr val="73210B"/>
              </a:gs>
              <a:gs pos="100000">
                <a:srgbClr val="73210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30"/>
          <p:cNvSpPr txBox="1"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entury Gothic"/>
              <a:buNone/>
            </a:pPr>
            <a:r>
              <a:rPr lang="pt-PT" sz="5400">
                <a:solidFill>
                  <a:srgbClr val="FFFFFF"/>
                </a:solidFill>
              </a:rPr>
              <a:t>Obrigado</a:t>
            </a:r>
            <a:br>
              <a:rPr lang="pt-PT" sz="5400">
                <a:solidFill>
                  <a:srgbClr val="FFFFFF"/>
                </a:solidFill>
              </a:rPr>
            </a:br>
            <a:endParaRPr sz="5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ste">
  <a:themeElements>
    <a:clrScheme name="Haste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608</Words>
  <Application>Microsoft Office PowerPoint</Application>
  <PresentationFormat>Ecrã Panorâmico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Noto Sans Symbols</vt:lpstr>
      <vt:lpstr>Arial</vt:lpstr>
      <vt:lpstr>Century Gothic</vt:lpstr>
      <vt:lpstr>Wingdings</vt:lpstr>
      <vt:lpstr>Haste</vt:lpstr>
      <vt:lpstr>The Model Context Protocol (MCP)</vt:lpstr>
      <vt:lpstr>Arquitetura</vt:lpstr>
      <vt:lpstr>Modelos Dados - Biblioteca </vt:lpstr>
      <vt:lpstr>REST API</vt:lpstr>
      <vt:lpstr>Apresentação do PowerPoint</vt:lpstr>
      <vt:lpstr>MCP Server</vt:lpstr>
      <vt:lpstr>MCP Server</vt:lpstr>
      <vt:lpstr>Agente Langchain + Gemini</vt:lpstr>
      <vt:lpstr>Demonstração</vt:lpstr>
      <vt:lpstr>Demonstração</vt:lpstr>
      <vt:lpstr>Demonstração</vt:lpstr>
      <vt:lpstr>Conclusão - REST API VS MCP </vt:lpstr>
      <vt:lpstr>Obrigado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ASUSR7</dc:creator>
  <cp:lastModifiedBy>Martim Alexandre Vieira Antunes</cp:lastModifiedBy>
  <cp:revision>3</cp:revision>
  <dcterms:modified xsi:type="dcterms:W3CDTF">2026-04-09T21:26:13Z</dcterms:modified>
</cp:coreProperties>
</file>